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0a2b6fab4e496d" /><Relationship Type="http://schemas.openxmlformats.org/officeDocument/2006/relationships/extended-properties" Target="/docProps/app.xml" Id="R9027c8dd9c1a4039" /><Relationship Type="http://schemas.openxmlformats.org/officeDocument/2006/relationships/officeDocument" Target="/ppt/presentation.xml" Id="Rcaf6ce39c3b64f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2b26023cd543cc"/>
  </p:sldMasterIdLst>
  <p:notesMasterIdLst>
    <p:notesMasterId xmlns:r="http://schemas.openxmlformats.org/officeDocument/2006/relationships" r:id="R74fa1d750e764d93"/>
  </p:notesMasterIdLst>
  <p:sldIdLst>
    <p:sldId xmlns:r="http://schemas.openxmlformats.org/officeDocument/2006/relationships" id="256" r:id="R6c963b4c83204ce5"/>
    <p:sldId xmlns:r="http://schemas.openxmlformats.org/officeDocument/2006/relationships" id="257" r:id="Rea8668ae26af4a7f"/>
    <p:sldId xmlns:r="http://schemas.openxmlformats.org/officeDocument/2006/relationships" id="258" r:id="R51f14df6da464601"/>
    <p:sldId xmlns:r="http://schemas.openxmlformats.org/officeDocument/2006/relationships" id="259" r:id="R33c4e03ed3fb4903"/>
    <p:sldId xmlns:r="http://schemas.openxmlformats.org/officeDocument/2006/relationships" id="260" r:id="Re6be847da16f4384"/>
    <p:sldId xmlns:r="http://schemas.openxmlformats.org/officeDocument/2006/relationships" id="261" r:id="R34706a5db1ea4e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67286a454e4652" /><Relationship Type="http://schemas.openxmlformats.org/officeDocument/2006/relationships/slideMaster" Target="/ppt/slideMasters/slideMaster1.xml" Id="Rac2b26023cd543cc" /><Relationship Type="http://schemas.openxmlformats.org/officeDocument/2006/relationships/notesMaster" Target="/ppt/notesMasters/notesMaster1.xml" Id="R74fa1d750e764d93" /><Relationship Type="http://schemas.openxmlformats.org/officeDocument/2006/relationships/presProps" Target="/ppt/presProps.xml" Id="R1d7821e60bc649af" /><Relationship Type="http://schemas.openxmlformats.org/officeDocument/2006/relationships/tableStyles" Target="/ppt/tableStyles.xml" Id="R77d2f0604b3f4d7b" /><Relationship Type="http://schemas.openxmlformats.org/officeDocument/2006/relationships/slide" Target="/ppt/slides/slide1.xml" Id="R6c963b4c83204ce5" /><Relationship Type="http://schemas.openxmlformats.org/officeDocument/2006/relationships/slide" Target="/ppt/slides/slide2.xml" Id="Rea8668ae26af4a7f" /><Relationship Type="http://schemas.openxmlformats.org/officeDocument/2006/relationships/slide" Target="/ppt/slides/slide3.xml" Id="R51f14df6da464601" /><Relationship Type="http://schemas.openxmlformats.org/officeDocument/2006/relationships/slide" Target="/ppt/slides/slide4.xml" Id="R33c4e03ed3fb4903" /><Relationship Type="http://schemas.openxmlformats.org/officeDocument/2006/relationships/slide" Target="/ppt/slides/slide5.xml" Id="Re6be847da16f4384" /><Relationship Type="http://schemas.openxmlformats.org/officeDocument/2006/relationships/slide" Target="/ppt/slides/slide6.xml" Id="R34706a5db1ea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91a78c01b045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a6c93a374c43fb" /><Relationship Type="http://schemas.openxmlformats.org/officeDocument/2006/relationships/notesMaster" Target="/ppt/notesMasters/notesMaster1.xml" Id="Rfc9b4d383ccd49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42daebe9f74890" /><Relationship Type="http://schemas.openxmlformats.org/officeDocument/2006/relationships/notesMaster" Target="/ppt/notesMasters/notesMaster1.xml" Id="R4727210c83c24e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5587b717af43a0" /><Relationship Type="http://schemas.openxmlformats.org/officeDocument/2006/relationships/notesMaster" Target="/ppt/notesMasters/notesMaster1.xml" Id="R25798cc38f754e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b6bc497a6445ce" /><Relationship Type="http://schemas.openxmlformats.org/officeDocument/2006/relationships/notesMaster" Target="/ppt/notesMasters/notesMaster1.xml" Id="R6a791dcbe19b46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7aab36f13d4129" /><Relationship Type="http://schemas.openxmlformats.org/officeDocument/2006/relationships/notesMaster" Target="/ppt/notesMasters/notesMaster1.xml" Id="R1137612d86134b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5c985cd3f04e49" /><Relationship Type="http://schemas.openxmlformats.org/officeDocument/2006/relationships/notesMaster" Target="/ppt/notesMasters/notesMaster1.xml" Id="R3a19853e12064a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1efc1a7b5143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2aea82821144e2" /><Relationship Type="http://schemas.openxmlformats.org/officeDocument/2006/relationships/slideLayout" Target="/ppt/slideLayouts/slideLayout1.xml" Id="R3fbbc6c6d9e34d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bc6c6d9e34d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526cca78b4029" /><Relationship Type="http://schemas.openxmlformats.org/officeDocument/2006/relationships/image" Target="/ppt/media/image.jpeg" Id="R7b04afdd3b214072" /><Relationship Type="http://schemas.openxmlformats.org/officeDocument/2006/relationships/image" Target="/ppt/media/image2.jpeg" Id="R360cf7f6e6404899" /><Relationship Type="http://schemas.openxmlformats.org/officeDocument/2006/relationships/image" Target="/ppt/media/image3.jpeg" Id="R779fe0303136430e" /><Relationship Type="http://schemas.openxmlformats.org/officeDocument/2006/relationships/notesSlide" Target="/ppt/notesSlides/notesSlide1.xml" Id="R9cac39eb78154b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20257e7ec4c8b" /><Relationship Type="http://schemas.openxmlformats.org/officeDocument/2006/relationships/image" Target="/ppt/media/image4.jpeg" Id="R22a389e480b842f9" /><Relationship Type="http://schemas.openxmlformats.org/officeDocument/2006/relationships/image" Target="/ppt/media/image5.jpeg" Id="Rb3ad728549c14c77" /><Relationship Type="http://schemas.openxmlformats.org/officeDocument/2006/relationships/image" Target="/ppt/media/image6.jpeg" Id="R76b1ddcbf0aa43a0" /><Relationship Type="http://schemas.openxmlformats.org/officeDocument/2006/relationships/notesSlide" Target="/ppt/notesSlides/notesSlide2.xml" Id="R4c121315187343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8f18d8e6a4d96" /><Relationship Type="http://schemas.openxmlformats.org/officeDocument/2006/relationships/image" Target="/ppt/media/image7.jpeg" Id="R90d3ce82668a4273" /><Relationship Type="http://schemas.openxmlformats.org/officeDocument/2006/relationships/image" Target="/ppt/media/image8.jpeg" Id="Rbc756bcc393e488c" /><Relationship Type="http://schemas.openxmlformats.org/officeDocument/2006/relationships/image" Target="/ppt/media/image9.jpeg" Id="Re7393a8fd3d4400d" /><Relationship Type="http://schemas.openxmlformats.org/officeDocument/2006/relationships/notesSlide" Target="/ppt/notesSlides/notesSlide3.xml" Id="R0180ff9276c547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852735b6d4383" /><Relationship Type="http://schemas.openxmlformats.org/officeDocument/2006/relationships/image" Target="/ppt/media/image10.jpeg" Id="Rbe0c6c0e1c324fa3" /><Relationship Type="http://schemas.openxmlformats.org/officeDocument/2006/relationships/image" Target="/ppt/media/image11.jpeg" Id="Read69a238ca74c12" /><Relationship Type="http://schemas.openxmlformats.org/officeDocument/2006/relationships/notesSlide" Target="/ppt/notesSlides/notesSlide4.xml" Id="R3b080c4e807840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150f698a44a5c" /><Relationship Type="http://schemas.openxmlformats.org/officeDocument/2006/relationships/image" Target="/ppt/media/image12.jpeg" Id="R2c126d7331d84256" /><Relationship Type="http://schemas.openxmlformats.org/officeDocument/2006/relationships/image" Target="/ppt/media/image13.jpeg" Id="R02a472582e174227" /><Relationship Type="http://schemas.openxmlformats.org/officeDocument/2006/relationships/notesSlide" Target="/ppt/notesSlides/notesSlide5.xml" Id="Rb1e5daf42d5e42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2a2e429be40b3" /><Relationship Type="http://schemas.openxmlformats.org/officeDocument/2006/relationships/image" Target="/ppt/media/image14.jpeg" Id="Rf7e21d535ba74961" /><Relationship Type="http://schemas.openxmlformats.org/officeDocument/2006/relationships/image" Target="/ppt/media/image15.jpeg" Id="R9357d74fbc8141a8" /><Relationship Type="http://schemas.openxmlformats.org/officeDocument/2006/relationships/notesSlide" Target="/ppt/notesSlides/notesSlide6.xml" Id="R6a08f0d6572e44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ccent-1">
            <a:extLst xmlns:a="http://schemas.openxmlformats.org/drawingml/2006/main">
              <a:ext uri="{FF2B5EF4-FFF2-40B4-BE49-F238E27FC236}">
                <a16:creationId xmlns:a16="http://schemas.microsoft.com/office/drawing/2014/main" id="{C31A1F6B-BEEC-4ED8-87C1-6111F774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5"/>
          </a:solidFill>
          <a:ln xmlns:a="http://schemas.openxmlformats.org/drawingml/2006/main" w="0">
            <a:solidFill>
              <a:srgbClr val="2F6B45"/>
            </a:solidFill>
            <a:prstDash val="solid"/>
          </a:ln>
        </p:spPr>
      </p:sp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2599B4A6-6FFA-482B-9E6D-E6DFFB07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GETTING STARTED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72E9F837-7936-409C-A599-0BCBCBEE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Access Harviana in three steps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45288742-52D7-4BC9-A2CE-785C8E93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861"/>
                </a:solidFill>
                <a:latin typeface="Arial"/>
                <a:ea typeface="Arial"/>
                <a:cs typeface="Arial"/>
              </a:rPr>
              <a:t>Open the platform, sign in with an authorized account, or register as a new Farmer.</a:t>
            </a:r>
          </a:p>
        </p:txBody>
      </p:sp>
      <p:sp>
        <p:nvSpPr>
          <p:cNvPr id="5" name="rule-1">
            <a:extLst xmlns:a="http://schemas.openxmlformats.org/drawingml/2006/main">
              <a:ext uri="{FF2B5EF4-FFF2-40B4-BE49-F238E27FC236}">
                <a16:creationId xmlns:a16="http://schemas.microsoft.com/office/drawing/2014/main" id="{D1B6FA6D-3C1E-4ABA-B011-6C5BEB65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E"/>
          </a:solidFill>
          <a:ln xmlns:a="http://schemas.openxmlformats.org/drawingml/2006/main" w="0">
            <a:solidFill>
              <a:srgbClr val="CBD4CE"/>
            </a:solidFill>
            <a:prstDash val="solid"/>
          </a:ln>
        </p:spPr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56B0F7C7-81C3-47D0-B8CC-DE40106E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05575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D6861"/>
                </a:solidFill>
                <a:latin typeface="Arial"/>
                <a:ea typeface="Arial"/>
                <a:cs typeface="Arial"/>
              </a:rPr>
              <a:t>HARVIANA USER MANUAL  •  01</a:t>
            </a:r>
          </a:p>
        </p:txBody>
      </p:sp>
      <p:sp>
        <p:nvSpPr>
          <p:cNvPr id="7" name="access-screen-1-frame">
            <a:extLst xmlns:a="http://schemas.openxmlformats.org/drawingml/2006/main">
              <a:ext uri="{FF2B5EF4-FFF2-40B4-BE49-F238E27FC236}">
                <a16:creationId xmlns:a16="http://schemas.microsoft.com/office/drawing/2014/main" id="{CDDAA193-C473-41CD-B2D2-46CE8BD7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4afdd3b214072"/>
          <a:srcRect xmlns:a="http://schemas.openxmlformats.org/drawingml/2006/main" l="11706" t="0" r="117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1609725"/>
            <a:ext cx="3371850" cy="2038350"/>
          </a:xfrm>
          <a:prstGeom xmlns:a="http://schemas.openxmlformats.org/drawingml/2006/main" prst="rect">
            <a:avLst/>
          </a:prstGeom>
        </p:spPr>
      </p:pic>
      <p:sp>
        <p:nvSpPr>
          <p:cNvPr id="9" name="access-screen-2-frame">
            <a:extLst xmlns:a="http://schemas.openxmlformats.org/drawingml/2006/main">
              <a:ext uri="{FF2B5EF4-FFF2-40B4-BE49-F238E27FC236}">
                <a16:creationId xmlns:a16="http://schemas.microsoft.com/office/drawing/2014/main" id="{86DD0D67-3274-44E3-8748-288B21AC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8115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cf7f6e6404899"/>
          <a:srcRect xmlns:a="http://schemas.openxmlformats.org/drawingml/2006/main" l="11703" t="0" r="117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0525" y="1609725"/>
            <a:ext cx="3371850" cy="2038350"/>
          </a:xfrm>
          <a:prstGeom xmlns:a="http://schemas.openxmlformats.org/drawingml/2006/main" prst="rect">
            <a:avLst/>
          </a:prstGeom>
        </p:spPr>
      </p:pic>
      <p:sp>
        <p:nvSpPr>
          <p:cNvPr id="11" name="access-screen-3-frame">
            <a:extLst xmlns:a="http://schemas.openxmlformats.org/drawingml/2006/main">
              <a:ext uri="{FF2B5EF4-FFF2-40B4-BE49-F238E27FC236}">
                <a16:creationId xmlns:a16="http://schemas.microsoft.com/office/drawing/2014/main" id="{2C077C85-8FF2-499C-91C7-6B123451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8115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fe0303136430e"/>
          <a:srcRect xmlns:a="http://schemas.openxmlformats.org/drawingml/2006/main" l="11703" t="0" r="117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2425" y="1609725"/>
            <a:ext cx="3371850" cy="2038350"/>
          </a:xfrm>
          <a:prstGeom xmlns:a="http://schemas.openxmlformats.org/drawingml/2006/main" prst="rect">
            <a:avLst/>
          </a:prstGeom>
        </p:spPr>
      </p:pic>
      <p:sp>
        <p:nvSpPr>
          <p:cNvPr id="13" name="access-step-1-number">
            <a:extLst xmlns:a="http://schemas.openxmlformats.org/drawingml/2006/main">
              <a:ext uri="{FF2B5EF4-FFF2-40B4-BE49-F238E27FC236}">
                <a16:creationId xmlns:a16="http://schemas.microsoft.com/office/drawing/2014/main" id="{ECB25822-0174-495B-A7A4-6A826CBD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access-step-1-title">
            <a:extLst xmlns:a="http://schemas.openxmlformats.org/drawingml/2006/main">
              <a:ext uri="{FF2B5EF4-FFF2-40B4-BE49-F238E27FC236}">
                <a16:creationId xmlns:a16="http://schemas.microsoft.com/office/drawing/2014/main" id="{AB84C878-8B36-4DCD-B69E-62BCDB2E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Open Harviana</a:t>
            </a:r>
          </a:p>
        </p:txBody>
      </p:sp>
      <p:sp>
        <p:nvSpPr>
          <p:cNvPr id="15" name="access-step-1-body">
            <a:extLst xmlns:a="http://schemas.openxmlformats.org/drawingml/2006/main">
              <a:ext uri="{FF2B5EF4-FFF2-40B4-BE49-F238E27FC236}">
                <a16:creationId xmlns:a16="http://schemas.microsoft.com/office/drawing/2014/main" id="{3C4BCF25-9F68-450D-89C6-6C7C4FA5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3028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Visit harviana.app and select the login or registration option.</a:t>
            </a:r>
          </a:p>
        </p:txBody>
      </p:sp>
      <p:sp>
        <p:nvSpPr>
          <p:cNvPr id="16" name="access-step-2-number">
            <a:extLst xmlns:a="http://schemas.openxmlformats.org/drawingml/2006/main">
              <a:ext uri="{FF2B5EF4-FFF2-40B4-BE49-F238E27FC236}">
                <a16:creationId xmlns:a16="http://schemas.microsoft.com/office/drawing/2014/main" id="{7FCCA9B0-340C-4C7F-B410-C666BE65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43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access-step-2-title">
            <a:extLst xmlns:a="http://schemas.openxmlformats.org/drawingml/2006/main">
              <a:ext uri="{FF2B5EF4-FFF2-40B4-BE49-F238E27FC236}">
                <a16:creationId xmlns:a16="http://schemas.microsoft.com/office/drawing/2014/main" id="{1F22AA13-9CD1-4FF8-882B-766CF560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18" name="access-step-2-body">
            <a:extLst xmlns:a="http://schemas.openxmlformats.org/drawingml/2006/main">
              <a:ext uri="{FF2B5EF4-FFF2-40B4-BE49-F238E27FC236}">
                <a16:creationId xmlns:a16="http://schemas.microsoft.com/office/drawing/2014/main" id="{8DBACFB4-197C-4417-929F-23692DB4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3028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Enter the registered email address and password, then select Sign In.</a:t>
            </a:r>
          </a:p>
        </p:txBody>
      </p:sp>
      <p:sp>
        <p:nvSpPr>
          <p:cNvPr id="19" name="access-step-3-number">
            <a:extLst xmlns:a="http://schemas.openxmlformats.org/drawingml/2006/main">
              <a:ext uri="{FF2B5EF4-FFF2-40B4-BE49-F238E27FC236}">
                <a16:creationId xmlns:a16="http://schemas.microsoft.com/office/drawing/2014/main" id="{A112B88B-7609-4083-905F-E534E91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access-step-3-title">
            <a:extLst xmlns:a="http://schemas.openxmlformats.org/drawingml/2006/main">
              <a:ext uri="{FF2B5EF4-FFF2-40B4-BE49-F238E27FC236}">
                <a16:creationId xmlns:a16="http://schemas.microsoft.com/office/drawing/2014/main" id="{AEFF2F19-14F1-4F5A-A7C6-1ADFA4E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243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Create an account</a:t>
            </a:r>
          </a:p>
        </p:txBody>
      </p:sp>
      <p:sp>
        <p:nvSpPr>
          <p:cNvPr id="21" name="access-step-3-body">
            <a:extLst xmlns:a="http://schemas.openxmlformats.org/drawingml/2006/main">
              <a:ext uri="{FF2B5EF4-FFF2-40B4-BE49-F238E27FC236}">
                <a16:creationId xmlns:a16="http://schemas.microsoft.com/office/drawing/2014/main" id="{5B974877-7706-493C-A7C5-977D79F2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3028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New Farmers may enter the required information and submit the registration form.</a:t>
            </a:r>
          </a:p>
        </p:txBody>
      </p:sp>
      <p:sp>
        <p:nvSpPr>
          <p:cNvPr id="22" name="role-note">
            <a:extLst xmlns:a="http://schemas.openxmlformats.org/drawingml/2006/main">
              <a:ext uri="{FF2B5EF4-FFF2-40B4-BE49-F238E27FC236}">
                <a16:creationId xmlns:a16="http://schemas.microsoft.com/office/drawing/2014/main" id="{2FB0E532-5789-4986-9A53-1A346982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09728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sp>
        <p:nvSpPr>
          <p:cNvPr id="23" name="role-note-text">
            <a:extLst xmlns:a="http://schemas.openxmlformats.org/drawingml/2006/main">
              <a:ext uri="{FF2B5EF4-FFF2-40B4-BE49-F238E27FC236}">
                <a16:creationId xmlns:a16="http://schemas.microsoft.com/office/drawing/2014/main" id="{E5668CAD-131F-48DD-881F-72FF7460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After authentication, Harviana opens the interface assigned to the Farmer, LGU Validator, or DA Administrator role.</a:t>
            </a:r>
          </a:p>
        </p:txBody>
      </p:sp>
    </p:spTree>
    <p:extLst>
      <p:ext uri="{BB962C8B-B14F-4D97-AF65-F5344CB8AC3E}">
        <p14:creationId xmlns:p14="http://schemas.microsoft.com/office/powerpoint/2010/main" val="1845304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ccent-2">
            <a:extLst xmlns:a="http://schemas.openxmlformats.org/drawingml/2006/main">
              <a:ext uri="{FF2B5EF4-FFF2-40B4-BE49-F238E27FC236}">
                <a16:creationId xmlns:a16="http://schemas.microsoft.com/office/drawing/2014/main" id="{5A628094-50C3-4261-AB0A-57767DB0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5"/>
          </a:solidFill>
          <a:ln xmlns:a="http://schemas.openxmlformats.org/drawingml/2006/main" w="0">
            <a:solidFill>
              <a:srgbClr val="2F6B45"/>
            </a:solidFill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ECB1D89B-ABC2-4F81-9F69-9C9683CE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FARMER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E8E19E61-05F5-4533-8F51-38F5E54B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Plan a crop and review its production estimate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7B509D15-56D7-4F99-8F93-7F5B5140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861"/>
                </a:solidFill>
                <a:latin typeface="Arial"/>
                <a:ea typeface="Arial"/>
                <a:cs typeface="Arial"/>
              </a:rPr>
              <a:t>The Farmer Dashboard, calendar, and prediction result work together during crop planning.</a:t>
            </a:r>
          </a:p>
        </p:txBody>
      </p:sp>
      <p:sp>
        <p:nvSpPr>
          <p:cNvPr id="5" name="rule-2">
            <a:extLst xmlns:a="http://schemas.openxmlformats.org/drawingml/2006/main">
              <a:ext uri="{FF2B5EF4-FFF2-40B4-BE49-F238E27FC236}">
                <a16:creationId xmlns:a16="http://schemas.microsoft.com/office/drawing/2014/main" id="{3480A743-6B5A-4418-BF77-6B324C1D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E"/>
          </a:solidFill>
          <a:ln xmlns:a="http://schemas.openxmlformats.org/drawingml/2006/main" w="0">
            <a:solidFill>
              <a:srgbClr val="CBD4CE"/>
            </a:solidFill>
            <a:prstDash val="solid"/>
          </a:ln>
        </p:spPr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4232EC00-0976-45DF-B66E-76F22463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05575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D6861"/>
                </a:solidFill>
                <a:latin typeface="Arial"/>
                <a:ea typeface="Arial"/>
                <a:cs typeface="Arial"/>
              </a:rPr>
              <a:t>HARVIANA USER MANUAL  •  02</a:t>
            </a:r>
          </a:p>
        </p:txBody>
      </p:sp>
      <p:sp>
        <p:nvSpPr>
          <p:cNvPr id="7" name="farmer-dashboard-frame">
            <a:extLst xmlns:a="http://schemas.openxmlformats.org/drawingml/2006/main">
              <a:ext uri="{FF2B5EF4-FFF2-40B4-BE49-F238E27FC236}">
                <a16:creationId xmlns:a16="http://schemas.microsoft.com/office/drawing/2014/main" id="{5420C951-A714-43B8-AD31-C4F936E4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9245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389e480b842f9"/>
          <a:srcRect xmlns:a="http://schemas.openxmlformats.org/drawingml/2006/main" l="439" t="0" r="4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1609725"/>
            <a:ext cx="5867400" cy="2914650"/>
          </a:xfrm>
          <a:prstGeom xmlns:a="http://schemas.openxmlformats.org/drawingml/2006/main" prst="rect">
            <a:avLst/>
          </a:prstGeom>
        </p:spPr>
      </p:pic>
      <p:sp>
        <p:nvSpPr>
          <p:cNvPr id="9" name="farmer-calendar-frame">
            <a:extLst xmlns:a="http://schemas.openxmlformats.org/drawingml/2006/main">
              <a:ext uri="{FF2B5EF4-FFF2-40B4-BE49-F238E27FC236}">
                <a16:creationId xmlns:a16="http://schemas.microsoft.com/office/drawing/2014/main" id="{2A61086B-74A4-4E41-AC81-0073818E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81150"/>
            <a:ext cx="52006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d728549c14c77"/>
          <a:srcRect xmlns:a="http://schemas.openxmlformats.org/drawingml/2006/main" l="0" t="7125" r="0" b="7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9875" y="1609725"/>
            <a:ext cx="5143500" cy="2171700"/>
          </a:xfrm>
          <a:prstGeom xmlns:a="http://schemas.openxmlformats.org/drawingml/2006/main" prst="rect">
            <a:avLst/>
          </a:prstGeom>
        </p:spPr>
      </p:pic>
      <p:sp>
        <p:nvSpPr>
          <p:cNvPr id="11" name="farmer-ml-frame">
            <a:extLst xmlns:a="http://schemas.openxmlformats.org/drawingml/2006/main">
              <a:ext uri="{FF2B5EF4-FFF2-40B4-BE49-F238E27FC236}">
                <a16:creationId xmlns:a16="http://schemas.microsoft.com/office/drawing/2014/main" id="{1E7F7E52-7643-4BA7-92B7-A5A1164B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52006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1ddcbf0aa43a0"/>
          <a:srcRect xmlns:a="http://schemas.openxmlformats.org/drawingml/2006/main" l="0" t="8629" r="0" b="86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9875" y="4124325"/>
            <a:ext cx="5143500" cy="2095500"/>
          </a:xfrm>
          <a:prstGeom xmlns:a="http://schemas.openxmlformats.org/drawingml/2006/main" prst="rect">
            <a:avLst/>
          </a:prstGeom>
        </p:spPr>
      </p:pic>
      <p:sp>
        <p:nvSpPr>
          <p:cNvPr id="13" name="farmer-plan-step-1-number">
            <a:extLst xmlns:a="http://schemas.openxmlformats.org/drawingml/2006/main">
              <a:ext uri="{FF2B5EF4-FFF2-40B4-BE49-F238E27FC236}">
                <a16:creationId xmlns:a16="http://schemas.microsoft.com/office/drawing/2014/main" id="{5A8A8DF9-E83D-42A4-9327-14E3CF5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farmer-plan-step-1-title">
            <a:extLst xmlns:a="http://schemas.openxmlformats.org/drawingml/2006/main">
              <a:ext uri="{FF2B5EF4-FFF2-40B4-BE49-F238E27FC236}">
                <a16:creationId xmlns:a16="http://schemas.microsoft.com/office/drawing/2014/main" id="{F06B0BE4-D2F1-4536-8E57-822B8628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Review the dashboard</a:t>
            </a:r>
          </a:p>
        </p:txBody>
      </p:sp>
      <p:sp>
        <p:nvSpPr>
          <p:cNvPr id="15" name="farmer-plan-step-1-body">
            <a:extLst xmlns:a="http://schemas.openxmlformats.org/drawingml/2006/main">
              <a:ext uri="{FF2B5EF4-FFF2-40B4-BE49-F238E27FC236}">
                <a16:creationId xmlns:a16="http://schemas.microsoft.com/office/drawing/2014/main" id="{1DB8469E-CFCD-443F-9041-3FCFC776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Check active plans, reminders, crop recommendations, and upcoming activities.</a:t>
            </a:r>
          </a:p>
        </p:txBody>
      </p:sp>
      <p:sp>
        <p:nvSpPr>
          <p:cNvPr id="16" name="farmer-plan-step-2-number">
            <a:extLst xmlns:a="http://schemas.openxmlformats.org/drawingml/2006/main">
              <a:ext uri="{FF2B5EF4-FFF2-40B4-BE49-F238E27FC236}">
                <a16:creationId xmlns:a16="http://schemas.microsoft.com/office/drawing/2014/main" id="{69BFA79D-1662-46B9-B7FA-ADE337A4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farmer-plan-step-2-title">
            <a:extLst xmlns:a="http://schemas.openxmlformats.org/drawingml/2006/main">
              <a:ext uri="{FF2B5EF4-FFF2-40B4-BE49-F238E27FC236}">
                <a16:creationId xmlns:a16="http://schemas.microsoft.com/office/drawing/2014/main" id="{E8FF532F-93F1-47C8-936B-B9B0867B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Create a crop plan</a:t>
            </a:r>
          </a:p>
        </p:txBody>
      </p:sp>
      <p:sp>
        <p:nvSpPr>
          <p:cNvPr id="18" name="farmer-plan-step-2-body">
            <a:extLst xmlns:a="http://schemas.openxmlformats.org/drawingml/2006/main">
              <a:ext uri="{FF2B5EF4-FFF2-40B4-BE49-F238E27FC236}">
                <a16:creationId xmlns:a16="http://schemas.microsoft.com/office/drawing/2014/main" id="{1684C450-DF3B-48D7-B9D2-23320698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552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Open the Farmer Calendar and enter the crop, area, water source, planting material, and planning date.</a:t>
            </a:r>
          </a:p>
        </p:txBody>
      </p:sp>
      <p:sp>
        <p:nvSpPr>
          <p:cNvPr id="19" name="calendar-caption">
            <a:extLst xmlns:a="http://schemas.openxmlformats.org/drawingml/2006/main">
              <a:ext uri="{FF2B5EF4-FFF2-40B4-BE49-F238E27FC236}">
                <a16:creationId xmlns:a16="http://schemas.microsoft.com/office/drawing/2014/main" id="{DCF3EADB-6B5C-4C97-A75D-87A97097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Calendar and crop-planning form</a:t>
            </a:r>
          </a:p>
        </p:txBody>
      </p:sp>
      <p:sp>
        <p:nvSpPr>
          <p:cNvPr id="20" name="ml-caption">
            <a:extLst xmlns:a="http://schemas.openxmlformats.org/drawingml/2006/main">
              <a:ext uri="{FF2B5EF4-FFF2-40B4-BE49-F238E27FC236}">
                <a16:creationId xmlns:a16="http://schemas.microsoft.com/office/drawing/2014/main" id="{1E818CB0-03FD-4A7E-97C7-615FAD4F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2674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861"/>
                </a:solidFill>
                <a:latin typeface="Arial"/>
                <a:ea typeface="Arial"/>
                <a:cs typeface="Arial"/>
              </a:rPr>
              <a:t>Review the estimated harvest date and ML-based production result before saving the plan.</a:t>
            </a:r>
          </a:p>
        </p:txBody>
      </p:sp>
    </p:spTree>
    <p:extLst>
      <p:ext uri="{BB962C8B-B14F-4D97-AF65-F5344CB8AC3E}">
        <p14:creationId xmlns:p14="http://schemas.microsoft.com/office/powerpoint/2010/main" val="2502631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ccent-3">
            <a:extLst xmlns:a="http://schemas.openxmlformats.org/drawingml/2006/main">
              <a:ext uri="{FF2B5EF4-FFF2-40B4-BE49-F238E27FC236}">
                <a16:creationId xmlns:a16="http://schemas.microsoft.com/office/drawing/2014/main" id="{7BA59608-FEB5-44E4-9BBB-AE6B480D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5"/>
          </a:solidFill>
          <a:ln xmlns:a="http://schemas.openxmlformats.org/drawingml/2006/main" w="0">
            <a:solidFill>
              <a:srgbClr val="2F6B45"/>
            </a:solidFill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7DD5A6B0-85DD-4A65-92CB-D60462FF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FARMER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94B06418-96FE-4786-8612-F26F3CB8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Record field outcomes and check local conditions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7DDE7BAD-D81C-4A52-BC48-430A66B0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861"/>
                </a:solidFill>
                <a:latin typeface="Arial"/>
                <a:ea typeface="Arial"/>
                <a:cs typeface="Arial"/>
              </a:rPr>
              <a:t>Damage and harvest records strengthen monitoring, while the map connects crop information with location and weather.</a:t>
            </a:r>
          </a:p>
        </p:txBody>
      </p:sp>
      <p:sp>
        <p:nvSpPr>
          <p:cNvPr id="5" name="rule-3">
            <a:extLst xmlns:a="http://schemas.openxmlformats.org/drawingml/2006/main">
              <a:ext uri="{FF2B5EF4-FFF2-40B4-BE49-F238E27FC236}">
                <a16:creationId xmlns:a16="http://schemas.microsoft.com/office/drawing/2014/main" id="{74CAFB88-9621-47E1-8D11-A45083D7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E"/>
          </a:solidFill>
          <a:ln xmlns:a="http://schemas.openxmlformats.org/drawingml/2006/main" w="0">
            <a:solidFill>
              <a:srgbClr val="CBD4CE"/>
            </a:solidFill>
            <a:prstDash val="solid"/>
          </a:ln>
        </p:spPr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9D420BCE-F244-4698-B392-1D65116A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05575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D6861"/>
                </a:solidFill>
                <a:latin typeface="Arial"/>
                <a:ea typeface="Arial"/>
                <a:cs typeface="Arial"/>
              </a:rPr>
              <a:t>HARVIANA USER MANUAL  •  03</a:t>
            </a:r>
          </a:p>
        </p:txBody>
      </p:sp>
      <p:sp>
        <p:nvSpPr>
          <p:cNvPr id="7" name="farmer-outcome-1-frame">
            <a:extLst xmlns:a="http://schemas.openxmlformats.org/drawingml/2006/main">
              <a:ext uri="{FF2B5EF4-FFF2-40B4-BE49-F238E27FC236}">
                <a16:creationId xmlns:a16="http://schemas.microsoft.com/office/drawing/2014/main" id="{7B6749F3-9EBB-4F14-9F53-AB0E45CB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290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3ce82668a4273"/>
          <a:srcRect xmlns:a="http://schemas.openxmlformats.org/drawingml/2006/main" l="17959" t="0" r="179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1609725"/>
            <a:ext cx="3371850" cy="2590800"/>
          </a:xfrm>
          <a:prstGeom xmlns:a="http://schemas.openxmlformats.org/drawingml/2006/main" prst="rect">
            <a:avLst/>
          </a:prstGeom>
        </p:spPr>
      </p:pic>
      <p:sp>
        <p:nvSpPr>
          <p:cNvPr id="9" name="farmer-outcome-step-1-number">
            <a:extLst xmlns:a="http://schemas.openxmlformats.org/drawingml/2006/main">
              <a:ext uri="{FF2B5EF4-FFF2-40B4-BE49-F238E27FC236}">
                <a16:creationId xmlns:a16="http://schemas.microsoft.com/office/drawing/2014/main" id="{E94F75EF-9435-4559-85D0-8EC2E294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farmer-outcome-step-1-title">
            <a:extLst xmlns:a="http://schemas.openxmlformats.org/drawingml/2006/main">
              <a:ext uri="{FF2B5EF4-FFF2-40B4-BE49-F238E27FC236}">
                <a16:creationId xmlns:a16="http://schemas.microsoft.com/office/drawing/2014/main" id="{E9143E66-B9F9-459D-A4F6-D9327BEC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Submit a damage report</a:t>
            </a:r>
          </a:p>
        </p:txBody>
      </p:sp>
      <p:sp>
        <p:nvSpPr>
          <p:cNvPr id="11" name="farmer-outcome-step-1-body">
            <a:extLst xmlns:a="http://schemas.openxmlformats.org/drawingml/2006/main">
              <a:ext uri="{FF2B5EF4-FFF2-40B4-BE49-F238E27FC236}">
                <a16:creationId xmlns:a16="http://schemas.microsoft.com/office/drawing/2014/main" id="{E7BC6787-9B27-4FB6-8693-AD04A2F3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3028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Select the affected crop plan, enter the damaged area and cause, then attach optional evidence.</a:t>
            </a:r>
          </a:p>
        </p:txBody>
      </p:sp>
      <p:sp>
        <p:nvSpPr>
          <p:cNvPr id="12" name="farmer-outcome-2-frame">
            <a:extLst xmlns:a="http://schemas.openxmlformats.org/drawingml/2006/main">
              <a:ext uri="{FF2B5EF4-FFF2-40B4-BE49-F238E27FC236}">
                <a16:creationId xmlns:a16="http://schemas.microsoft.com/office/drawing/2014/main" id="{2BBCC6BB-D4E0-4C19-86C7-89412825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81150"/>
            <a:ext cx="34290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56bcc393e488c"/>
          <a:srcRect xmlns:a="http://schemas.openxmlformats.org/drawingml/2006/main" l="17959" t="0" r="179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0525" y="1609725"/>
            <a:ext cx="3371850" cy="2590800"/>
          </a:xfrm>
          <a:prstGeom xmlns:a="http://schemas.openxmlformats.org/drawingml/2006/main" prst="rect">
            <a:avLst/>
          </a:prstGeom>
        </p:spPr>
      </p:pic>
      <p:sp>
        <p:nvSpPr>
          <p:cNvPr id="14" name="farmer-outcome-step-2-number">
            <a:extLst xmlns:a="http://schemas.openxmlformats.org/drawingml/2006/main">
              <a:ext uri="{FF2B5EF4-FFF2-40B4-BE49-F238E27FC236}">
                <a16:creationId xmlns:a16="http://schemas.microsoft.com/office/drawing/2014/main" id="{C36BDD4D-4E39-4224-A071-D870AE8F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76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farmer-outcome-step-2-title">
            <a:extLst xmlns:a="http://schemas.openxmlformats.org/drawingml/2006/main">
              <a:ext uri="{FF2B5EF4-FFF2-40B4-BE49-F238E27FC236}">
                <a16:creationId xmlns:a16="http://schemas.microsoft.com/office/drawing/2014/main" id="{CEDC6421-5439-482F-8827-1EF07E90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Record the actual harvest</a:t>
            </a:r>
          </a:p>
        </p:txBody>
      </p:sp>
      <p:sp>
        <p:nvSpPr>
          <p:cNvPr id="16" name="farmer-outcome-step-2-body">
            <a:extLst xmlns:a="http://schemas.openxmlformats.org/drawingml/2006/main">
              <a:ext uri="{FF2B5EF4-FFF2-40B4-BE49-F238E27FC236}">
                <a16:creationId xmlns:a16="http://schemas.microsoft.com/office/drawing/2014/main" id="{EC236239-25AE-494E-9767-D3FAE336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43450"/>
            <a:ext cx="3028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Enter the harvest date, amount, unit, notes, and optional photo evidence.</a:t>
            </a:r>
          </a:p>
        </p:txBody>
      </p:sp>
      <p:sp>
        <p:nvSpPr>
          <p:cNvPr id="17" name="farmer-outcome-3-frame">
            <a:extLst xmlns:a="http://schemas.openxmlformats.org/drawingml/2006/main">
              <a:ext uri="{FF2B5EF4-FFF2-40B4-BE49-F238E27FC236}">
                <a16:creationId xmlns:a16="http://schemas.microsoft.com/office/drawing/2014/main" id="{D42E03B4-A868-4EE8-BBC0-9C4FDC01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81150"/>
            <a:ext cx="34290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93a8fd3d4400d"/>
          <a:srcRect xmlns:a="http://schemas.openxmlformats.org/drawingml/2006/main" l="17959" t="0" r="179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2425" y="1609725"/>
            <a:ext cx="3371850" cy="2590800"/>
          </a:xfrm>
          <a:prstGeom xmlns:a="http://schemas.openxmlformats.org/drawingml/2006/main" prst="rect">
            <a:avLst/>
          </a:prstGeom>
        </p:spPr>
      </p:pic>
      <p:sp>
        <p:nvSpPr>
          <p:cNvPr id="19" name="farmer-outcome-step-3-number">
            <a:extLst xmlns:a="http://schemas.openxmlformats.org/drawingml/2006/main">
              <a:ext uri="{FF2B5EF4-FFF2-40B4-BE49-F238E27FC236}">
                <a16:creationId xmlns:a16="http://schemas.microsoft.com/office/drawing/2014/main" id="{ED9E66DE-8517-484B-85E0-7FAEE810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76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farmer-outcome-step-3-title">
            <a:extLst xmlns:a="http://schemas.openxmlformats.org/drawingml/2006/main">
              <a:ext uri="{FF2B5EF4-FFF2-40B4-BE49-F238E27FC236}">
                <a16:creationId xmlns:a16="http://schemas.microsoft.com/office/drawing/2014/main" id="{15E092D1-C407-4A73-BE36-F56F7561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577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View map and weather</a:t>
            </a:r>
          </a:p>
        </p:txBody>
      </p:sp>
      <p:sp>
        <p:nvSpPr>
          <p:cNvPr id="21" name="farmer-outcome-step-3-body">
            <a:extLst xmlns:a="http://schemas.openxmlformats.org/drawingml/2006/main">
              <a:ext uri="{FF2B5EF4-FFF2-40B4-BE49-F238E27FC236}">
                <a16:creationId xmlns:a16="http://schemas.microsoft.com/office/drawing/2014/main" id="{F4499268-E39C-48BE-A15A-19A6A5C3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43450"/>
            <a:ext cx="3028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Filter agricultural information and review the weather details of a selected municipality.</a:t>
            </a:r>
          </a:p>
        </p:txBody>
      </p:sp>
      <p:sp>
        <p:nvSpPr>
          <p:cNvPr id="22" name="farmer-validation-note">
            <a:extLst xmlns:a="http://schemas.openxmlformats.org/drawingml/2006/main">
              <a:ext uri="{FF2B5EF4-FFF2-40B4-BE49-F238E27FC236}">
                <a16:creationId xmlns:a16="http://schemas.microsoft.com/office/drawing/2014/main" id="{A4A44CAE-809A-45EB-A433-5B5D565D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Damage and actual-harvest submissions remain pending until they are reviewed by the appropriate LGU Validator.</a:t>
            </a:r>
          </a:p>
        </p:txBody>
      </p:sp>
    </p:spTree>
    <p:extLst>
      <p:ext uri="{BB962C8B-B14F-4D97-AF65-F5344CB8AC3E}">
        <p14:creationId xmlns:p14="http://schemas.microsoft.com/office/powerpoint/2010/main" val="661220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ccent-4">
            <a:extLst xmlns:a="http://schemas.openxmlformats.org/drawingml/2006/main">
              <a:ext uri="{FF2B5EF4-FFF2-40B4-BE49-F238E27FC236}">
                <a16:creationId xmlns:a16="http://schemas.microsoft.com/office/drawing/2014/main" id="{952609F4-7489-4989-8F2B-D2A418D0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5"/>
          </a:solidFill>
          <a:ln xmlns:a="http://schemas.openxmlformats.org/drawingml/2006/main" w="0">
            <a:solidFill>
              <a:srgbClr val="2F6B45"/>
            </a:solidFill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A342770B-0B04-4F64-A4CC-D33B0652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LGU VALIDATOR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D7F5A0CB-BD5C-47D6-B08A-5781783E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Review and decide on Farmer-submitted reports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C4AAFC00-683B-4871-A2F7-5883A128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861"/>
                </a:solidFill>
                <a:latin typeface="Arial"/>
                <a:ea typeface="Arial"/>
                <a:cs typeface="Arial"/>
              </a:rPr>
              <a:t>The validation queue is limited to the LGU Validator's assigned municipality.</a:t>
            </a:r>
          </a:p>
        </p:txBody>
      </p:sp>
      <p:sp>
        <p:nvSpPr>
          <p:cNvPr id="5" name="rule-4">
            <a:extLst xmlns:a="http://schemas.openxmlformats.org/drawingml/2006/main">
              <a:ext uri="{FF2B5EF4-FFF2-40B4-BE49-F238E27FC236}">
                <a16:creationId xmlns:a16="http://schemas.microsoft.com/office/drawing/2014/main" id="{C50927F6-2867-4D94-BD34-F53FA960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E"/>
          </a:solidFill>
          <a:ln xmlns:a="http://schemas.openxmlformats.org/drawingml/2006/main" w="0">
            <a:solidFill>
              <a:srgbClr val="CBD4CE"/>
            </a:solidFill>
            <a:prstDash val="solid"/>
          </a:ln>
        </p:spPr>
      </p:sp>
      <p:sp>
        <p:nvSpPr>
          <p:cNvPr id="6" name="footer-4">
            <a:extLst xmlns:a="http://schemas.openxmlformats.org/drawingml/2006/main">
              <a:ext uri="{FF2B5EF4-FFF2-40B4-BE49-F238E27FC236}">
                <a16:creationId xmlns:a16="http://schemas.microsoft.com/office/drawing/2014/main" id="{7C3E7635-E12E-4183-967E-CBD92C27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05575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D6861"/>
                </a:solidFill>
                <a:latin typeface="Arial"/>
                <a:ea typeface="Arial"/>
                <a:cs typeface="Arial"/>
              </a:rPr>
              <a:t>HARVIANA USER MANUAL  •  04</a:t>
            </a:r>
          </a:p>
        </p:txBody>
      </p:sp>
      <p:sp>
        <p:nvSpPr>
          <p:cNvPr id="7" name="lgu-queue-frame">
            <a:extLst xmlns:a="http://schemas.openxmlformats.org/drawingml/2006/main">
              <a:ext uri="{FF2B5EF4-FFF2-40B4-BE49-F238E27FC236}">
                <a16:creationId xmlns:a16="http://schemas.microsoft.com/office/drawing/2014/main" id="{F1A7A735-EF00-4870-B75E-BF625DE9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2197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c6c0e1c324fa3"/>
          <a:stretch xmlns:a="http://schemas.openxmlformats.org/drawingml/2006/main"/>
        </p:blipFill>
        <p:spPr>
          <a:xfrm xmlns:a="http://schemas.openxmlformats.org/drawingml/2006/main">
            <a:off x="539208" y="1609725"/>
            <a:ext cx="4941384" cy="4533900"/>
          </a:xfrm>
          <a:prstGeom xmlns:a="http://schemas.openxmlformats.org/drawingml/2006/main" prst="rect">
            <a:avLst/>
          </a:prstGeom>
        </p:spPr>
      </p:pic>
      <p:sp>
        <p:nvSpPr>
          <p:cNvPr id="9" name="lgu-approved-frame">
            <a:extLst xmlns:a="http://schemas.openxmlformats.org/drawingml/2006/main">
              <a:ext uri="{FF2B5EF4-FFF2-40B4-BE49-F238E27FC236}">
                <a16:creationId xmlns:a16="http://schemas.microsoft.com/office/drawing/2014/main" id="{15672C55-D2F1-476B-81F6-A614FBF4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5886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69a238ca74c12"/>
          <a:srcRect xmlns:a="http://schemas.openxmlformats.org/drawingml/2006/main" l="0" t="28268" r="0" b="28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4075" y="1609725"/>
            <a:ext cx="5829300" cy="2324100"/>
          </a:xfrm>
          <a:prstGeom xmlns:a="http://schemas.openxmlformats.org/drawingml/2006/main" prst="rect">
            <a:avLst/>
          </a:prstGeom>
        </p:spPr>
      </p:pic>
      <p:sp>
        <p:nvSpPr>
          <p:cNvPr id="11" name="lgu-step-1-number">
            <a:extLst xmlns:a="http://schemas.openxmlformats.org/drawingml/2006/main">
              <a:ext uri="{FF2B5EF4-FFF2-40B4-BE49-F238E27FC236}">
                <a16:creationId xmlns:a16="http://schemas.microsoft.com/office/drawing/2014/main" id="{E8A58100-C5BA-4C5E-A314-9885FE1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lgu-step-1-title">
            <a:extLst xmlns:a="http://schemas.openxmlformats.org/drawingml/2006/main">
              <a:ext uri="{FF2B5EF4-FFF2-40B4-BE49-F238E27FC236}">
                <a16:creationId xmlns:a16="http://schemas.microsoft.com/office/drawing/2014/main" id="{05A9A16B-63CF-4F43-8677-27E287A6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Open the queue</a:t>
            </a:r>
          </a:p>
        </p:txBody>
      </p:sp>
      <p:sp>
        <p:nvSpPr>
          <p:cNvPr id="13" name="lgu-step-1-body">
            <a:extLst xmlns:a="http://schemas.openxmlformats.org/drawingml/2006/main">
              <a:ext uri="{FF2B5EF4-FFF2-40B4-BE49-F238E27FC236}">
                <a16:creationId xmlns:a16="http://schemas.microsoft.com/office/drawing/2014/main" id="{F11A71FF-665C-4952-B85E-1000DD8C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Filter reports by status or type and open the record that requires review.</a:t>
            </a:r>
          </a:p>
        </p:txBody>
      </p:sp>
      <p:sp>
        <p:nvSpPr>
          <p:cNvPr id="14" name="lgu-step-2-number">
            <a:extLst xmlns:a="http://schemas.openxmlformats.org/drawingml/2006/main">
              <a:ext uri="{FF2B5EF4-FFF2-40B4-BE49-F238E27FC236}">
                <a16:creationId xmlns:a16="http://schemas.microsoft.com/office/drawing/2014/main" id="{8840B149-52C8-41BA-8980-1A513F23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481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lgu-step-2-title">
            <a:extLst xmlns:a="http://schemas.openxmlformats.org/drawingml/2006/main">
              <a:ext uri="{FF2B5EF4-FFF2-40B4-BE49-F238E27FC236}">
                <a16:creationId xmlns:a16="http://schemas.microsoft.com/office/drawing/2014/main" id="{2881FB69-2766-410E-BE03-319832A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Review the evidence</a:t>
            </a:r>
          </a:p>
        </p:txBody>
      </p:sp>
      <p:sp>
        <p:nvSpPr>
          <p:cNvPr id="16" name="lgu-step-2-body">
            <a:extLst xmlns:a="http://schemas.openxmlformats.org/drawingml/2006/main">
              <a:ext uri="{FF2B5EF4-FFF2-40B4-BE49-F238E27FC236}">
                <a16:creationId xmlns:a16="http://schemas.microsoft.com/office/drawing/2014/main" id="{3F3F5233-9B57-4F08-B4A1-BF06442C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14850"/>
            <a:ext cx="245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Check the Farmer's information, attached photo, captured location, and authenticity indicators.</a:t>
            </a:r>
          </a:p>
        </p:txBody>
      </p:sp>
      <p:sp>
        <p:nvSpPr>
          <p:cNvPr id="17" name="lgu-step-3-number">
            <a:extLst xmlns:a="http://schemas.openxmlformats.org/drawingml/2006/main">
              <a:ext uri="{FF2B5EF4-FFF2-40B4-BE49-F238E27FC236}">
                <a16:creationId xmlns:a16="http://schemas.microsoft.com/office/drawing/2014/main" id="{73E3E6B0-0B3E-4454-B974-41E7066D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911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lgu-step-3-title">
            <a:extLst xmlns:a="http://schemas.openxmlformats.org/drawingml/2006/main">
              <a:ext uri="{FF2B5EF4-FFF2-40B4-BE49-F238E27FC236}">
                <a16:creationId xmlns:a16="http://schemas.microsoft.com/office/drawing/2014/main" id="{B115E404-E83A-4A51-BF51-054A8ACC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721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Record the decision</a:t>
            </a:r>
          </a:p>
        </p:txBody>
      </p:sp>
      <p:sp>
        <p:nvSpPr>
          <p:cNvPr id="19" name="lgu-step-3-body">
            <a:extLst xmlns:a="http://schemas.openxmlformats.org/drawingml/2006/main">
              <a:ext uri="{FF2B5EF4-FFF2-40B4-BE49-F238E27FC236}">
                <a16:creationId xmlns:a16="http://schemas.microsoft.com/office/drawing/2014/main" id="{45C80AA4-66B5-4BB9-A9B1-794DD606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57850"/>
            <a:ext cx="2343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Approve an acceptable report or return it with a required correction note.</a:t>
            </a:r>
          </a:p>
        </p:txBody>
      </p:sp>
      <p:sp>
        <p:nvSpPr>
          <p:cNvPr id="20" name="lgu-step-4-number">
            <a:extLst xmlns:a="http://schemas.openxmlformats.org/drawingml/2006/main">
              <a:ext uri="{FF2B5EF4-FFF2-40B4-BE49-F238E27FC236}">
                <a16:creationId xmlns:a16="http://schemas.microsoft.com/office/drawing/2014/main" id="{F8B4EAD2-6562-48EA-BDA1-567607E1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911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lgu-step-4-title">
            <a:extLst xmlns:a="http://schemas.openxmlformats.org/drawingml/2006/main">
              <a:ext uri="{FF2B5EF4-FFF2-40B4-BE49-F238E27FC236}">
                <a16:creationId xmlns:a16="http://schemas.microsoft.com/office/drawing/2014/main" id="{14175168-1EE0-48FE-9A2B-3719AFBA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721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Confirm its status</a:t>
            </a:r>
          </a:p>
        </p:txBody>
      </p:sp>
      <p:sp>
        <p:nvSpPr>
          <p:cNvPr id="22" name="lgu-step-4-body">
            <a:extLst xmlns:a="http://schemas.openxmlformats.org/drawingml/2006/main">
              <a:ext uri="{FF2B5EF4-FFF2-40B4-BE49-F238E27FC236}">
                <a16:creationId xmlns:a16="http://schemas.microsoft.com/office/drawing/2014/main" id="{98026F64-9828-463D-ABCC-9E3DB847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5785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The system records the validator, date, notes, revision, and audit history.</a:t>
            </a:r>
          </a:p>
        </p:txBody>
      </p:sp>
    </p:spTree>
    <p:extLst>
      <p:ext uri="{BB962C8B-B14F-4D97-AF65-F5344CB8AC3E}">
        <p14:creationId xmlns:p14="http://schemas.microsoft.com/office/powerpoint/2010/main" val="35386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-5">
            <a:extLst xmlns:a="http://schemas.openxmlformats.org/drawingml/2006/main">
              <a:ext uri="{FF2B5EF4-FFF2-40B4-BE49-F238E27FC236}">
                <a16:creationId xmlns:a16="http://schemas.microsoft.com/office/drawing/2014/main" id="{01889F28-2E16-4ED2-AC7C-231C6549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5"/>
          </a:solidFill>
          <a:ln xmlns:a="http://schemas.openxmlformats.org/drawingml/2006/main" w="0">
            <a:solidFill>
              <a:srgbClr val="2F6B45"/>
            </a:solidFill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F5912415-C22C-4FE9-951E-A93DEB02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DA ADMINISTRATOR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552820C9-51BF-4171-8500-C0979EA9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Monitor municipal supply and location-based information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443F63F7-F8F5-4FFC-902C-209F34D2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861"/>
                </a:solidFill>
                <a:latin typeface="Arial"/>
                <a:ea typeface="Arial"/>
                <a:cs typeface="Arial"/>
              </a:rPr>
              <a:t>Validated records and Farmer crop plans support administrative monitoring across Benguet municipalities.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6F4A2ED8-DF66-4765-A4D1-655EBB66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E"/>
          </a:solidFill>
          <a:ln xmlns:a="http://schemas.openxmlformats.org/drawingml/2006/main" w="0">
            <a:solidFill>
              <a:srgbClr val="CBD4CE"/>
            </a:solidFill>
            <a:prstDash val="solid"/>
          </a:ln>
        </p:spPr>
      </p: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6F61AC37-1D1F-4070-A89C-D69AF677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05575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D6861"/>
                </a:solidFill>
                <a:latin typeface="Arial"/>
                <a:ea typeface="Arial"/>
                <a:cs typeface="Arial"/>
              </a:rPr>
              <a:t>HARVIANA USER MANUAL  •  05</a:t>
            </a:r>
          </a:p>
        </p:txBody>
      </p:sp>
      <p:sp>
        <p:nvSpPr>
          <p:cNvPr id="7" name="da-dashboard-frame">
            <a:extLst xmlns:a="http://schemas.openxmlformats.org/drawingml/2006/main">
              <a:ext uri="{FF2B5EF4-FFF2-40B4-BE49-F238E27FC236}">
                <a16:creationId xmlns:a16="http://schemas.microsoft.com/office/drawing/2014/main" id="{5EF5A996-8E06-497F-AF18-6E893D98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467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26d7331d84256"/>
          <a:srcRect xmlns:a="http://schemas.openxmlformats.org/drawingml/2006/main" l="5276" t="0" r="52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1609725"/>
            <a:ext cx="5410200" cy="2800350"/>
          </a:xfrm>
          <a:prstGeom xmlns:a="http://schemas.openxmlformats.org/drawingml/2006/main" prst="rect">
            <a:avLst/>
          </a:prstGeom>
        </p:spPr>
      </p:pic>
      <p:sp>
        <p:nvSpPr>
          <p:cNvPr id="9" name="da-map-frame">
            <a:extLst xmlns:a="http://schemas.openxmlformats.org/drawingml/2006/main">
              <a:ext uri="{FF2B5EF4-FFF2-40B4-BE49-F238E27FC236}">
                <a16:creationId xmlns:a16="http://schemas.microsoft.com/office/drawing/2014/main" id="{3A81A8BD-A16E-476B-824A-EB01F957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5638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472582e174227"/>
          <a:srcRect xmlns:a="http://schemas.openxmlformats.org/drawingml/2006/main" l="929" t="0" r="9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1725" y="1609725"/>
            <a:ext cx="5581650" cy="2800350"/>
          </a:xfrm>
          <a:prstGeom xmlns:a="http://schemas.openxmlformats.org/drawingml/2006/main" prst="rect">
            <a:avLst/>
          </a:prstGeom>
        </p:spPr>
      </p:pic>
      <p:sp>
        <p:nvSpPr>
          <p:cNvPr id="11" name="da-step-1-number">
            <a:extLst xmlns:a="http://schemas.openxmlformats.org/drawingml/2006/main">
              <a:ext uri="{FF2B5EF4-FFF2-40B4-BE49-F238E27FC236}">
                <a16:creationId xmlns:a16="http://schemas.microsoft.com/office/drawing/2014/main" id="{64EA0696-1122-4A57-AC4D-CA2B6FA6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a-step-1-title">
            <a:extLst xmlns:a="http://schemas.openxmlformats.org/drawingml/2006/main">
              <a:ext uri="{FF2B5EF4-FFF2-40B4-BE49-F238E27FC236}">
                <a16:creationId xmlns:a16="http://schemas.microsoft.com/office/drawing/2014/main" id="{7A0B91A9-083A-4345-BAB5-5FEB7256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506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Review the dashboard</a:t>
            </a:r>
          </a:p>
        </p:txBody>
      </p:sp>
      <p:sp>
        <p:nvSpPr>
          <p:cNvPr id="13" name="da-step-1-body">
            <a:extLst xmlns:a="http://schemas.openxmlformats.org/drawingml/2006/main">
              <a:ext uri="{FF2B5EF4-FFF2-40B4-BE49-F238E27FC236}">
                <a16:creationId xmlns:a16="http://schemas.microsoft.com/office/drawing/2014/main" id="{5A3DC201-5875-4FB0-8FBB-5FE2BB59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Check record totals, municipal supply information, and the current administrative overview.</a:t>
            </a:r>
          </a:p>
        </p:txBody>
      </p:sp>
      <p:sp>
        <p:nvSpPr>
          <p:cNvPr id="14" name="da-step-2-number">
            <a:extLst xmlns:a="http://schemas.openxmlformats.org/drawingml/2006/main">
              <a:ext uri="{FF2B5EF4-FFF2-40B4-BE49-F238E27FC236}">
                <a16:creationId xmlns:a16="http://schemas.microsoft.com/office/drawing/2014/main" id="{EA0B64BF-5D22-4499-876C-3B701B85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da-step-2-title">
            <a:extLst xmlns:a="http://schemas.openxmlformats.org/drawingml/2006/main">
              <a:ext uri="{FF2B5EF4-FFF2-40B4-BE49-F238E27FC236}">
                <a16:creationId xmlns:a16="http://schemas.microsoft.com/office/drawing/2014/main" id="{FF39ED28-D8EB-495F-A271-F5186F6D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4345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Select an area</a:t>
            </a:r>
          </a:p>
        </p:txBody>
      </p:sp>
      <p:sp>
        <p:nvSpPr>
          <p:cNvPr id="16" name="da-step-2-body">
            <a:extLst xmlns:a="http://schemas.openxmlformats.org/drawingml/2006/main">
              <a:ext uri="{FF2B5EF4-FFF2-40B4-BE49-F238E27FC236}">
                <a16:creationId xmlns:a16="http://schemas.microsoft.com/office/drawing/2014/main" id="{335ADC81-83FB-4B64-8A5E-F34BC9DB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292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Use the municipality, crop, year, view, and farm-type filters to focus the displayed information.</a:t>
            </a:r>
          </a:p>
        </p:txBody>
      </p:sp>
      <p:sp>
        <p:nvSpPr>
          <p:cNvPr id="17" name="da-note">
            <a:extLst xmlns:a="http://schemas.openxmlformats.org/drawingml/2006/main">
              <a:ext uri="{FF2B5EF4-FFF2-40B4-BE49-F238E27FC236}">
                <a16:creationId xmlns:a16="http://schemas.microsoft.com/office/drawing/2014/main" id="{181ED536-1E5B-44B0-846C-6121FF50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sp>
        <p:nvSpPr>
          <p:cNvPr id="18" name="da-note-text">
            <a:extLst xmlns:a="http://schemas.openxmlformats.org/drawingml/2006/main">
              <a:ext uri="{FF2B5EF4-FFF2-40B4-BE49-F238E27FC236}">
                <a16:creationId xmlns:a16="http://schemas.microsoft.com/office/drawing/2014/main" id="{D8897334-9B4D-44D9-9857-35531FFA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Weather information may be viewed together with agricultural map records to support area-based monitoring.</a:t>
            </a:r>
          </a:p>
        </p:txBody>
      </p:sp>
    </p:spTree>
    <p:extLst>
      <p:ext uri="{BB962C8B-B14F-4D97-AF65-F5344CB8AC3E}">
        <p14:creationId xmlns:p14="http://schemas.microsoft.com/office/powerpoint/2010/main" val="748273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ccent-6">
            <a:extLst xmlns:a="http://schemas.openxmlformats.org/drawingml/2006/main">
              <a:ext uri="{FF2B5EF4-FFF2-40B4-BE49-F238E27FC236}">
                <a16:creationId xmlns:a16="http://schemas.microsoft.com/office/drawing/2014/main" id="{9167854A-A014-4512-B159-B0E91FFB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5"/>
          </a:solidFill>
          <a:ln xmlns:a="http://schemas.openxmlformats.org/drawingml/2006/main" w="0">
            <a:solidFill>
              <a:srgbClr val="2F6B45"/>
            </a:solidFill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01ABC00F-AC73-4ACF-B6B8-FC04ACD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DA ADMINISTRATOR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D05D50CF-CD0F-42C1-BD16-65454AA4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Generate and export agricultural reports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AF188332-B0C8-436A-8739-6AE7BFC5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861"/>
                </a:solidFill>
                <a:latin typeface="Arial"/>
                <a:ea typeface="Arial"/>
                <a:cs typeface="Arial"/>
              </a:rPr>
              <a:t>The report pages summarize validated records and prepare them for documentation and administrative analysis.</a:t>
            </a:r>
          </a:p>
        </p:txBody>
      </p:sp>
      <p:sp>
        <p:nvSpPr>
          <p:cNvPr id="5" name="rule-6">
            <a:extLst xmlns:a="http://schemas.openxmlformats.org/drawingml/2006/main">
              <a:ext uri="{FF2B5EF4-FFF2-40B4-BE49-F238E27FC236}">
                <a16:creationId xmlns:a16="http://schemas.microsoft.com/office/drawing/2014/main" id="{57125145-1176-4606-B1BD-F12B9836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E"/>
          </a:solidFill>
          <a:ln xmlns:a="http://schemas.openxmlformats.org/drawingml/2006/main" w="0">
            <a:solidFill>
              <a:srgbClr val="CBD4CE"/>
            </a:solidFill>
            <a:prstDash val="solid"/>
          </a:ln>
        </p:spPr>
      </p:sp>
      <p:sp>
        <p:nvSpPr>
          <p:cNvPr id="6" name="footer-6">
            <a:extLst xmlns:a="http://schemas.openxmlformats.org/drawingml/2006/main">
              <a:ext uri="{FF2B5EF4-FFF2-40B4-BE49-F238E27FC236}">
                <a16:creationId xmlns:a16="http://schemas.microsoft.com/office/drawing/2014/main" id="{0A94B157-4A95-44EA-87AC-845817E0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05575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D6861"/>
                </a:solidFill>
                <a:latin typeface="Arial"/>
                <a:ea typeface="Arial"/>
                <a:cs typeface="Arial"/>
              </a:rPr>
              <a:t>HARVIANA USER MANUAL  •  06</a:t>
            </a:r>
          </a:p>
        </p:txBody>
      </p:sp>
      <p:sp>
        <p:nvSpPr>
          <p:cNvPr id="7" name="reports-dashboard-frame">
            <a:extLst xmlns:a="http://schemas.openxmlformats.org/drawingml/2006/main">
              <a:ext uri="{FF2B5EF4-FFF2-40B4-BE49-F238E27FC236}">
                <a16:creationId xmlns:a16="http://schemas.microsoft.com/office/drawing/2014/main" id="{C47B829C-B7BC-4E24-A9B9-862087A6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467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21d535ba74961"/>
          <a:srcRect xmlns:a="http://schemas.openxmlformats.org/drawingml/2006/main" l="3039" t="0" r="30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1609725"/>
            <a:ext cx="5410200" cy="2667000"/>
          </a:xfrm>
          <a:prstGeom xmlns:a="http://schemas.openxmlformats.org/drawingml/2006/main" prst="rect">
            <a:avLst/>
          </a:prstGeom>
        </p:spPr>
      </p:pic>
      <p:sp>
        <p:nvSpPr>
          <p:cNvPr id="9" name="planting-export-frame">
            <a:extLst xmlns:a="http://schemas.openxmlformats.org/drawingml/2006/main">
              <a:ext uri="{FF2B5EF4-FFF2-40B4-BE49-F238E27FC236}">
                <a16:creationId xmlns:a16="http://schemas.microsoft.com/office/drawing/2014/main" id="{F31C8F07-76AC-48A3-B2A7-C7B4459F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56388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7d74fbc8141a8"/>
          <a:srcRect xmlns:a="http://schemas.openxmlformats.org/drawingml/2006/main" l="1551" t="0" r="15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1725" y="1609725"/>
            <a:ext cx="5581650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report-step-1-number">
            <a:extLst xmlns:a="http://schemas.openxmlformats.org/drawingml/2006/main">
              <a:ext uri="{FF2B5EF4-FFF2-40B4-BE49-F238E27FC236}">
                <a16:creationId xmlns:a16="http://schemas.microsoft.com/office/drawing/2014/main" id="{C582AF5F-922B-4C2C-9778-FAE45BDC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report-step-1-title">
            <a:extLst xmlns:a="http://schemas.openxmlformats.org/drawingml/2006/main">
              <a:ext uri="{FF2B5EF4-FFF2-40B4-BE49-F238E27FC236}">
                <a16:creationId xmlns:a16="http://schemas.microsoft.com/office/drawing/2014/main" id="{7F83BCA8-FCEB-4F7B-8F3B-C133A3BC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Open Reports</a:t>
            </a:r>
          </a:p>
        </p:txBody>
      </p:sp>
      <p:sp>
        <p:nvSpPr>
          <p:cNvPr id="13" name="report-step-1-body">
            <a:extLst xmlns:a="http://schemas.openxmlformats.org/drawingml/2006/main">
              <a:ext uri="{FF2B5EF4-FFF2-40B4-BE49-F238E27FC236}">
                <a16:creationId xmlns:a16="http://schemas.microsoft.com/office/drawing/2014/main" id="{872FEBE3-5EC4-44F5-8AA9-4B7413B3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2209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Review harvest accuracy, crop production, damage, and report summaries.</a:t>
            </a:r>
          </a:p>
        </p:txBody>
      </p:sp>
      <p:sp>
        <p:nvSpPr>
          <p:cNvPr id="14" name="report-step-2-number">
            <a:extLst xmlns:a="http://schemas.openxmlformats.org/drawingml/2006/main">
              <a:ext uri="{FF2B5EF4-FFF2-40B4-BE49-F238E27FC236}">
                <a16:creationId xmlns:a16="http://schemas.microsoft.com/office/drawing/2014/main" id="{25293388-11E8-4F4D-9E1A-B9B224A2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91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eport-step-2-title">
            <a:extLst xmlns:a="http://schemas.openxmlformats.org/drawingml/2006/main">
              <a:ext uri="{FF2B5EF4-FFF2-40B4-BE49-F238E27FC236}">
                <a16:creationId xmlns:a16="http://schemas.microsoft.com/office/drawing/2014/main" id="{00176F6A-FC58-4E6E-B67C-3FB7BB2D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Set the filters</a:t>
            </a:r>
          </a:p>
        </p:txBody>
      </p:sp>
      <p:sp>
        <p:nvSpPr>
          <p:cNvPr id="16" name="report-step-2-body">
            <a:extLst xmlns:a="http://schemas.openxmlformats.org/drawingml/2006/main">
              <a:ext uri="{FF2B5EF4-FFF2-40B4-BE49-F238E27FC236}">
                <a16:creationId xmlns:a16="http://schemas.microsoft.com/office/drawing/2014/main" id="{4FF24774-FE41-464C-A34A-985CA82E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5775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Select the municipality, crop, date, status, or other available criteria.</a:t>
            </a:r>
          </a:p>
        </p:txBody>
      </p:sp>
      <p:sp>
        <p:nvSpPr>
          <p:cNvPr id="17" name="report-step-3-number">
            <a:extLst xmlns:a="http://schemas.openxmlformats.org/drawingml/2006/main">
              <a:ext uri="{FF2B5EF4-FFF2-40B4-BE49-F238E27FC236}">
                <a16:creationId xmlns:a16="http://schemas.microsoft.com/office/drawing/2014/main" id="{2E510C78-724C-4B8E-8597-D40F62D1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91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report-step-3-title">
            <a:extLst xmlns:a="http://schemas.openxmlformats.org/drawingml/2006/main">
              <a:ext uri="{FF2B5EF4-FFF2-40B4-BE49-F238E27FC236}">
                <a16:creationId xmlns:a16="http://schemas.microsoft.com/office/drawing/2014/main" id="{64F5BDAA-3E3C-4EA0-B2CF-A92EA735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720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Review the records</a:t>
            </a:r>
          </a:p>
        </p:txBody>
      </p:sp>
      <p:sp>
        <p:nvSpPr>
          <p:cNvPr id="19" name="report-step-3-body">
            <a:extLst xmlns:a="http://schemas.openxmlformats.org/drawingml/2006/main">
              <a:ext uri="{FF2B5EF4-FFF2-40B4-BE49-F238E27FC236}">
                <a16:creationId xmlns:a16="http://schemas.microsoft.com/office/drawing/2014/main" id="{6CD8C021-81D4-4C6B-A6B1-E9C0D2CD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Confirm the planting, production, damage, validation, and actual-harvest information.</a:t>
            </a:r>
          </a:p>
        </p:txBody>
      </p:sp>
      <p:sp>
        <p:nvSpPr>
          <p:cNvPr id="20" name="report-step-4-number">
            <a:extLst xmlns:a="http://schemas.openxmlformats.org/drawingml/2006/main">
              <a:ext uri="{FF2B5EF4-FFF2-40B4-BE49-F238E27FC236}">
                <a16:creationId xmlns:a16="http://schemas.microsoft.com/office/drawing/2014/main" id="{C15AAA28-E3C7-403B-AC70-7B634542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report-step-4-title">
            <a:extLst xmlns:a="http://schemas.openxmlformats.org/drawingml/2006/main">
              <a:ext uri="{FF2B5EF4-FFF2-40B4-BE49-F238E27FC236}">
                <a16:creationId xmlns:a16="http://schemas.microsoft.com/office/drawing/2014/main" id="{CBE9392B-E42D-4781-87D6-497DCFD9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72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B"/>
                </a:solidFill>
                <a:latin typeface="Arial"/>
                <a:ea typeface="Arial"/>
                <a:cs typeface="Arial"/>
              </a:rPr>
              <a:t>Export the report</a:t>
            </a:r>
          </a:p>
        </p:txBody>
      </p:sp>
      <p:sp>
        <p:nvSpPr>
          <p:cNvPr id="22" name="report-step-4-body">
            <a:extLst xmlns:a="http://schemas.openxmlformats.org/drawingml/2006/main">
              <a:ext uri="{FF2B5EF4-FFF2-40B4-BE49-F238E27FC236}">
                <a16:creationId xmlns:a16="http://schemas.microsoft.com/office/drawing/2014/main" id="{57B387A1-404E-4FD8-BC8A-855DDB39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577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8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861"/>
                </a:solidFill>
                <a:latin typeface="Arial"/>
                <a:ea typeface="Arial"/>
                <a:cs typeface="Arial"/>
              </a:rPr>
              <a:t>Download the prepared report in PDF or CSV format when required.</a:t>
            </a:r>
          </a:p>
        </p:txBody>
      </p:sp>
      <p:sp>
        <p:nvSpPr>
          <p:cNvPr id="23" name="report-note">
            <a:extLst xmlns:a="http://schemas.openxmlformats.org/drawingml/2006/main">
              <a:ext uri="{FF2B5EF4-FFF2-40B4-BE49-F238E27FC236}">
                <a16:creationId xmlns:a16="http://schemas.microsoft.com/office/drawing/2014/main" id="{BD2DDE5F-3B80-42D3-BBB0-E9C0AE19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CBD4CE"/>
            </a:solidFill>
            <a:prstDash val="solid"/>
          </a:ln>
        </p:spPr>
      </p:sp>
      <p:sp>
        <p:nvSpPr>
          <p:cNvPr id="24" name="report-note-text">
            <a:extLst xmlns:a="http://schemas.openxmlformats.org/drawingml/2006/main">
              <a:ext uri="{FF2B5EF4-FFF2-40B4-BE49-F238E27FC236}">
                <a16:creationId xmlns:a16="http://schemas.microsoft.com/office/drawing/2014/main" id="{678DF31E-01E9-4E76-9589-FA3B2EB7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B45"/>
                </a:solidFill>
                <a:latin typeface="Arial"/>
                <a:ea typeface="Arial"/>
                <a:cs typeface="Arial"/>
              </a:rPr>
              <a:t>Exported reports may be used for documentation, further analysis, and administrative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06884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2026-07-16T11:54:26.2190000Z</dcterms:created>
  <dcterms:modified xsi:type="dcterms:W3CDTF">2026-07-16T11:54:26.2190000Z</dcterms:modified>
</coreProperties>
</file>